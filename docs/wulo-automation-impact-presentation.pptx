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142326"/>
          </a:solidFill>
          <a:ln>
            <a:solidFill>
              <a:srgbClr val="142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457200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SPEECH THERAPY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949440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ptos"/>
              </a:rPr>
              <a:t>Wulo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694944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0">
                <a:solidFill>
                  <a:srgbClr val="B0B8C4"/>
                </a:solidFill>
                <a:latin typeface="Aptos"/>
              </a:rPr>
              <a:t>The speech therapy operating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508760"/>
            <a:ext cx="3429000" cy="33375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2057400"/>
            <a:ext cx="2834640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Aptos"/>
              </a:rPr>
              <a:t>30 -&gt;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697480"/>
            <a:ext cx="28346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500" b="0">
                <a:solidFill>
                  <a:srgbClr val="B0B8C4"/>
                </a:solidFill>
                <a:latin typeface="Aptos"/>
              </a:rPr>
              <a:t>home-practice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429000"/>
            <a:ext cx="2834640" cy="5486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3800" b="1">
                <a:solidFill>
                  <a:srgbClr val="4ADE80"/>
                </a:solidFill>
                <a:latin typeface="Aptos"/>
              </a:rPr>
              <a:t>+22%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069080"/>
            <a:ext cx="28346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500" b="0">
                <a:solidFill>
                  <a:srgbClr val="B0B8C4"/>
                </a:solidFill>
                <a:latin typeface="Aptos"/>
              </a:rPr>
              <a:t>clinical phoneme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78992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Built with React, Python, realtime speech, Azure Speech, Azure Voice Live, and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Wulo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5074920" cy="1600200"/>
          </a:xfrm>
          <a:prstGeom prst="roundRect">
            <a:avLst/>
          </a:prstGeom>
          <a:solidFill>
            <a:srgbClr val="142326"/>
          </a:solidFill>
          <a:ln w="12700">
            <a:solidFill>
              <a:srgbClr val="142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452628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Therapists lost up to 30 minutes reconstructing what happened between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64208"/>
            <a:ext cx="5074920" cy="1600200"/>
          </a:xfrm>
          <a:prstGeom prst="roundRect">
            <a:avLst/>
          </a:prstGeom>
          <a:solidFill>
            <a:srgbClr val="141C2D"/>
          </a:solidFill>
          <a:ln w="12700">
            <a:solidFill>
              <a:srgbClr val="14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65376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22576"/>
            <a:ext cx="452628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Design a speech therapy OS that captures practice, analyses it, and presents it back to the therapist.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21608"/>
            <a:ext cx="5074920" cy="1600200"/>
          </a:xfrm>
          <a:prstGeom prst="roundRect">
            <a:avLst/>
          </a:prstGeom>
          <a:solidFill>
            <a:srgbClr val="2D2112"/>
          </a:solidFill>
          <a:ln w="12700">
            <a:solidFill>
              <a:srgbClr val="2D21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452628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Real-time voice practice, phoneme-aware assessment, session summaries, review dashboards.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721608"/>
            <a:ext cx="5074920" cy="1600200"/>
          </a:xfrm>
          <a:prstGeom prst="roundRect">
            <a:avLst/>
          </a:prstGeom>
          <a:solidFill>
            <a:srgbClr val="14261A"/>
          </a:solidFill>
          <a:ln w="12700">
            <a:solidFill>
              <a:srgbClr val="142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922776"/>
            <a:ext cx="19202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79976"/>
            <a:ext cx="452628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Review time reduced from 30 minutes to 5 minutes; clinical phoneme performance improved by 22%.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 one-hour session was being consumed by missing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5669280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Therapists were forced to reconstruct the week before they could treat the child in front of them.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871215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788920"/>
            <a:ext cx="54589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Home practice was inconsistent, undocumented, and hard to verify.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46703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264408"/>
            <a:ext cx="54589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Parents wanted to help but often lacked time, structure, or clinical confidence.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822191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739896"/>
            <a:ext cx="54589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Children needed repeated practice, but not every home had someone available to coach it.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297679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215383"/>
            <a:ext cx="54589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first 30 minutes of a 60-minute session could disappear into catch-up and guesswork.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691640"/>
            <a:ext cx="3520440" cy="342900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011680"/>
            <a:ext cx="288036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B0B8C4"/>
                </a:solidFill>
                <a:latin typeface="Aptos"/>
              </a:rPr>
              <a:t>The hidden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514600"/>
            <a:ext cx="2606040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5200" b="1">
                <a:solidFill>
                  <a:srgbClr val="F87171"/>
                </a:solidFill>
                <a:latin typeface="Aptos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56432"/>
            <a:ext cx="2606040" cy="9144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of a one-hour session could be spent reconstructing home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507992"/>
            <a:ext cx="260604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B0B8C4"/>
                </a:solidFill>
                <a:latin typeface="Aptos"/>
              </a:rPr>
              <a:t>30 minutes lost before intervention could properly begin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PROBLEM QUANTIFIED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Where the inefficiency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514600" cy="1554480"/>
          </a:xfrm>
          <a:prstGeom prst="roundRect">
            <a:avLst/>
          </a:prstGeom>
          <a:solidFill>
            <a:srgbClr val="142326"/>
          </a:solidFill>
          <a:ln w="12700">
            <a:solidFill>
              <a:srgbClr val="142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292608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B0B8C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874519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Therapist sets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5535"/>
            <a:ext cx="1874519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B0B8C4"/>
                </a:solidFill>
                <a:latin typeface="Aptos"/>
              </a:rPr>
              <a:t>Good clinical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688336"/>
            <a:ext cx="320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600" b="1">
                <a:solidFill>
                  <a:srgbClr val="B0B8C4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103120"/>
            <a:ext cx="2514600" cy="1554480"/>
          </a:xfrm>
          <a:prstGeom prst="roundRect">
            <a:avLst/>
          </a:prstGeom>
          <a:solidFill>
            <a:srgbClr val="2D2112"/>
          </a:solidFill>
          <a:ln w="12700">
            <a:solidFill>
              <a:srgbClr val="2D21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67712"/>
            <a:ext cx="292608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B0B8C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542032"/>
            <a:ext cx="1874519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Home practice happens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45535"/>
            <a:ext cx="1874519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B0B8C4"/>
                </a:solidFill>
                <a:latin typeface="Aptos"/>
              </a:rPr>
              <a:t>Low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2688336"/>
            <a:ext cx="320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600" b="1">
                <a:solidFill>
                  <a:srgbClr val="B0B8C4"/>
                </a:solidFill>
                <a:latin typeface="Apto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103120"/>
            <a:ext cx="2514600" cy="155448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1C1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267712"/>
            <a:ext cx="292608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B0B8C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2542032"/>
            <a:ext cx="1874519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Evidence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145535"/>
            <a:ext cx="1874519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B0B8C4"/>
                </a:solidFill>
                <a:latin typeface="Aptos"/>
              </a:rPr>
              <a:t>No reliable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688336"/>
            <a:ext cx="32004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600" b="1">
                <a:solidFill>
                  <a:srgbClr val="B0B8C4"/>
                </a:solidFill>
                <a:latin typeface="Aptos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2103120"/>
            <a:ext cx="2514600" cy="1554480"/>
          </a:xfrm>
          <a:prstGeom prst="roundRect">
            <a:avLst/>
          </a:prstGeom>
          <a:solidFill>
            <a:srgbClr val="141C2D"/>
          </a:solidFill>
          <a:ln w="12700">
            <a:solidFill>
              <a:srgbClr val="14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2267712"/>
            <a:ext cx="292608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B0B8C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542032"/>
            <a:ext cx="1874519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Next session starts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145535"/>
            <a:ext cx="1874519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B0B8C4"/>
                </a:solidFill>
                <a:latin typeface="Aptos"/>
              </a:rPr>
              <a:t>30 min reconstruction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4709160"/>
            <a:ext cx="10012680" cy="786384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892040"/>
            <a:ext cx="173736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Automation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864608"/>
            <a:ext cx="777240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Capture the practice evidence automatically, then compress it into something a therapist can review in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2.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I designed Wulo as an operating system for therapist-led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14984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The question was not what can AI do? It was what should the OS run on behalf of the therapist, and what must the therapist still own?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34056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Observed the workflow around session prep, home practice, review, and next-step planning.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Separated clinical judgement from repeatable evidence-capture tasks.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85032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Prioritized automations with measurable time savings and low safety risk.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160520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78224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Designed human-in-the-loop checkpoints so generated outputs supported, rather than replaced, therapists.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AUTOMATION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What the OS runs for the therapist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71632" cy="621792"/>
          </a:xfrm>
          <a:prstGeom prst="roundRect">
            <a:avLst/>
          </a:prstGeom>
          <a:solidFill>
            <a:srgbClr val="142326"/>
          </a:solidFill>
          <a:ln w="12700">
            <a:solidFill>
              <a:srgbClr val="142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2514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Guided home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55648"/>
            <a:ext cx="7360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Give the child structured repetitions without needing a parent to lead every 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41448"/>
            <a:ext cx="10771632" cy="621792"/>
          </a:xfrm>
          <a:prstGeom prst="roundRect">
            <a:avLst/>
          </a:prstGeom>
          <a:solidFill>
            <a:srgbClr val="141C2D"/>
          </a:solidFill>
          <a:ln w="12700">
            <a:solidFill>
              <a:srgbClr val="14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2514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Transcript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96896"/>
            <a:ext cx="7360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Preserve what happened instead of relying on memory or parent recall.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82696"/>
            <a:ext cx="10771632" cy="621792"/>
          </a:xfrm>
          <a:prstGeom prst="roundRect">
            <a:avLst/>
          </a:prstGeom>
          <a:solidFill>
            <a:srgbClr val="2D2112"/>
          </a:solidFill>
          <a:ln w="12700">
            <a:solidFill>
              <a:srgbClr val="2D21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38144"/>
            <a:ext cx="2514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Pronunciation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38144"/>
            <a:ext cx="7360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Turn audio into word and phoneme-level signals therapists can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23944"/>
            <a:ext cx="10771632" cy="621792"/>
          </a:xfrm>
          <a:prstGeom prst="roundRect">
            <a:avLst/>
          </a:prstGeom>
          <a:solidFill>
            <a:srgbClr val="14261A"/>
          </a:solidFill>
          <a:ln w="12700">
            <a:solidFill>
              <a:srgbClr val="142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79392"/>
            <a:ext cx="2514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Session summarisation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79392"/>
            <a:ext cx="7360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Compress raw interaction data into review-ready clinical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65192"/>
            <a:ext cx="10771632" cy="621792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1C1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25146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Next-session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7360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Aptos"/>
              </a:rPr>
              <a:t>Use saved evidence to draft a plan for therapist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3.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OS architecture: realtime practice plus review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5897880" cy="43434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44" y="1536192"/>
            <a:ext cx="4044791" cy="43434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903720" y="1773936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9752" y="1691640"/>
            <a:ext cx="42702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React and TypeScript frontend for child practice and therapist dashboard workflows.</a:t>
            </a:r>
          </a:p>
        </p:txBody>
      </p:sp>
      <p:sp>
        <p:nvSpPr>
          <p:cNvPr id="10" name="Oval 9"/>
          <p:cNvSpPr/>
          <p:nvPr/>
        </p:nvSpPr>
        <p:spPr>
          <a:xfrm>
            <a:off x="6903720" y="2395728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2313432"/>
            <a:ext cx="42702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Python Flask backend with WebSocket proxy for real-time audio and avatar sessions.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903720" y="3017520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2935224"/>
            <a:ext cx="42702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Azure Voice Live for guided conversation and avatar delivery.</a:t>
            </a:r>
          </a:p>
        </p:txBody>
      </p:sp>
      <p:sp>
        <p:nvSpPr>
          <p:cNvPr id="14" name="Oval 13"/>
          <p:cNvSpPr/>
          <p:nvPr/>
        </p:nvSpPr>
        <p:spPr>
          <a:xfrm>
            <a:off x="6903720" y="3639312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3557016"/>
            <a:ext cx="42702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Azure Speech for pronunciation assessment; Azure OpenAI for structured analysis and planning.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4261104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4178808"/>
            <a:ext cx="42702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Persistence layer for session history, child memory, recommendations, and audit-friendly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IMPLEMENTATION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Realtime practice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4434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0028"/>
            <a:ext cx="5303520" cy="4083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627632"/>
            <a:ext cx="475488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The child gets a supportive practice partner; the therapist gets structured evidence back.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606040"/>
            <a:ext cx="329184" cy="329184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329184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87752"/>
            <a:ext cx="43891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Aptos"/>
              </a:rPr>
              <a:t>Audio capture streams from browser to backend over WebSocket.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355848"/>
            <a:ext cx="329184" cy="329184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01568"/>
            <a:ext cx="329184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337560"/>
            <a:ext cx="43891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Aptos"/>
              </a:rPr>
              <a:t>Voice session returns assistant audio, avatar output, and transcriptions.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105656"/>
            <a:ext cx="329184" cy="329184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51376"/>
            <a:ext cx="329184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087368"/>
            <a:ext cx="43891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Aptos"/>
              </a:rPr>
              <a:t>Session completion triggers analysis of transcript, target words, and pronunciation data.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4855464"/>
            <a:ext cx="329184" cy="329184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901184"/>
            <a:ext cx="329184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837176"/>
            <a:ext cx="43891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Aptos"/>
              </a:rPr>
              <a:t>Results are saved for therapist review before the next appointment.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IMPLEMENTATION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Making speech AI work for clinical phonemes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649224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Off-the-shelf speech models were not enough for therapy-specific pronunciation targets.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96896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6099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Built a target-sound layer around words, phonemes, repetitions, and child-appropriate prompts.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154679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6099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Used Azure Speech pronunciation assessment for word-level accuracy, fluency, and completeness signals.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712463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30168"/>
            <a:ext cx="6099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Added phoneme-aware content and lexicon support so clinical targets were pronounced and evaluated more reliably.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70248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87952"/>
            <a:ext cx="6099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Compared baseline model behaviour against therapy-specific prompts and target lists on clinical phoneme examples.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810512"/>
            <a:ext cx="3337560" cy="33375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359152"/>
            <a:ext cx="260604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5200" b="1">
                <a:solidFill>
                  <a:srgbClr val="4ADE80"/>
                </a:solidFill>
                <a:latin typeface="Aptos"/>
              </a:rPr>
              <a:t>+22%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246120"/>
            <a:ext cx="2606040" cy="9144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Improvement over the off-the-shelf speech model on clinical phoneme pronunciation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370832"/>
            <a:ext cx="260604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0">
                <a:solidFill>
                  <a:srgbClr val="B0B8C4"/>
                </a:solidFill>
                <a:latin typeface="Aptos"/>
              </a:rPr>
              <a:t>Measured by comparing baseline speech behaviour with therapy-specific phoneme prompts and target lists.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IMPLEMENTATION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Therapist review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484632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Raw practice becomes decision-ready evidence.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14015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45445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Per-session transcripts and assessment results are stored for review.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80944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898648"/>
            <a:ext cx="45445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Pronunciation scores surface word-level strengths and failure cases.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547872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465576"/>
            <a:ext cx="45445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AI-generated notes summarise effort, clarity, retries, and suggested practice focus.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14800"/>
            <a:ext cx="118872" cy="11887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032504"/>
            <a:ext cx="454456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Therapist feedback stays authoritative and can be added after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536192"/>
            <a:ext cx="5623560" cy="4434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83749"/>
            <a:ext cx="5623560" cy="4339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4.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Measured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5074920" cy="15087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28800"/>
            <a:ext cx="169164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F87171"/>
                </a:solidFill>
                <a:latin typeface="Aptos"/>
              </a:rPr>
              <a:t>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2" y="1847088"/>
            <a:ext cx="2560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2313432"/>
            <a:ext cx="25603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B0B8C4"/>
                </a:solidFill>
                <a:latin typeface="Aptos"/>
              </a:rPr>
              <a:t>Manual reconstruction at start of a 60-minute therapy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00200"/>
            <a:ext cx="5074920" cy="15087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28800"/>
            <a:ext cx="169164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4ADE80"/>
                </a:solidFill>
                <a:latin typeface="Aptos"/>
              </a:rP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47088"/>
            <a:ext cx="2560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313432"/>
            <a:ext cx="25603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B0B8C4"/>
                </a:solidFill>
                <a:latin typeface="Aptos"/>
              </a:rPr>
              <a:t>Review using Wulo session evidence and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66160"/>
            <a:ext cx="5074920" cy="15087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94760"/>
            <a:ext cx="169164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60A5FA"/>
                </a:solidFill>
                <a:latin typeface="Aptos"/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813048"/>
            <a:ext cx="2560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Faster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4279392"/>
            <a:ext cx="25603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B0B8C4"/>
                </a:solidFill>
                <a:latin typeface="Aptos"/>
              </a:rPr>
              <a:t>25 minutes returned to therapy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3566160"/>
            <a:ext cx="5074920" cy="1508760"/>
          </a:xfrm>
          <a:prstGeom prst="roundRect">
            <a:avLst/>
          </a:prstGeom>
          <a:solidFill>
            <a:srgbClr val="1C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794760"/>
            <a:ext cx="169164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2DD4BF"/>
                </a:solidFill>
                <a:latin typeface="Aptos"/>
              </a:rPr>
              <a:t>+22%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813048"/>
            <a:ext cx="2560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Speech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279392"/>
            <a:ext cx="256032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B0B8C4"/>
                </a:solidFill>
                <a:latin typeface="Aptos"/>
              </a:rPr>
              <a:t>Improvement on clinical phoneme pronunciation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486400"/>
            <a:ext cx="9921240" cy="530352"/>
          </a:xfrm>
          <a:prstGeom prst="roundRect">
            <a:avLst/>
          </a:prstGeom>
          <a:solidFill>
            <a:srgbClr val="142326"/>
          </a:solidFill>
          <a:ln w="12700">
            <a:solidFill>
              <a:srgbClr val="142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632704"/>
            <a:ext cx="946404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Bottom line: Wulo returned 25 minutes of a 60-minute therapy session to active clinical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The OS changed the economics of care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14984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The value was not just speed. It was better allocation of scarce clinical attention.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34056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Performance: therapists start with evidence, not uncertainty.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Efficiency: 25 minutes per session moves from reconstruction to intervention.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85032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Quality: phoneme-specific feedback improves the signal therapists use to adjust plans.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160520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78224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Scalability: parents no longer need to personally lead every practice repetition.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636008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53712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Safety: AI supports preparation and review while therapists retain clinical judgement.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813816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The engineering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02336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900" b="0">
                <a:solidFill>
                  <a:srgbClr val="B0B8C4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64240" cy="9144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149840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 good speech therapy OS respects the expert workflow it runs on.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34056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I did not build an AI therapist. I built the OS that surrounds the therapist.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It captures practice, analyses speech, summarises evidence, and proposes next steps.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685032"/>
            <a:ext cx="118872" cy="11887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9528048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The therapist remains the decision maker, but now enters the session with better data and more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504688"/>
            <a:ext cx="10561320" cy="59436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669280"/>
            <a:ext cx="1001268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Wulo is the speech therapy OS that turns between-session practice into measurable clinical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